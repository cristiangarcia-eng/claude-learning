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80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800" b="1">
                <a:solidFill>
                  <a:srgbClr val="FAFAFA"/>
                </a:solidFill>
                <a:latin typeface="Outfit"/>
              </a:defRPr>
            </a:pPr>
            <a:r>
              <a:t>Mismo mensaje. Dos formas de mandárselo a tu AI.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280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0A0A5"/>
                </a:solidFill>
                <a:latin typeface="Plus Jakarta Sans"/>
              </a:defRPr>
            </a:pPr>
            <a:r>
              <a:t>¿Cuál usas tú?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120" y="2011680"/>
            <a:ext cx="6217920" cy="5303520"/>
          </a:xfrm>
          <a:prstGeom prst="roundRect">
            <a:avLst/>
          </a:prstGeom>
          <a:solidFill>
            <a:srgbClr val="121216"/>
          </a:solidFill>
          <a:ln>
            <a:noFill/>
          </a:ln>
          <a:effectLst>
            <a:outerShdw blurRad="600000" dist="0" dir="0">
              <a:srgbClr val="EF4444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3000" y="2194560"/>
            <a:ext cx="5852160" cy="4937760"/>
          </a:xfrm>
          <a:prstGeom prst="roundRect">
            <a:avLst>
              <a:gd name="adj" fmla="val 6000"/>
            </a:avLst>
          </a:prstGeom>
          <a:solidFill>
            <a:srgbClr val="26262C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794760" y="2468880"/>
            <a:ext cx="548640" cy="548640"/>
          </a:xfrm>
          <a:prstGeom prst="ellipse">
            <a:avLst/>
          </a:prstGeom>
          <a:noFill/>
          <a:ln w="317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977640" y="2651760"/>
            <a:ext cx="182880" cy="1828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200400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AFAFA"/>
                </a:solidFill>
                <a:latin typeface="Outfit"/>
              </a:defRPr>
            </a:pPr>
            <a:r>
              <a:t>Mandar un screenshot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749040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EF4444"/>
                </a:solidFill>
                <a:latin typeface="Outfit"/>
              </a:defRPr>
            </a:pPr>
            <a:r>
              <a:t>1,585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461772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EF4444"/>
                </a:solidFill>
                <a:latin typeface="Plus Jakarta Sans"/>
              </a:defRPr>
            </a:pPr>
            <a:r>
              <a:t>tokens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40280" y="5120640"/>
            <a:ext cx="3657600" cy="13716"/>
          </a:xfrm>
          <a:prstGeom prst="rect">
            <a:avLst/>
          </a:prstGeom>
          <a:solidFill>
            <a:srgbClr val="464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783080" y="5486400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57400" y="539496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5"/>
                </a:solidFill>
                <a:latin typeface="Plus Jakarta Sans"/>
              </a:defRPr>
            </a:pPr>
            <a:r>
              <a:t>La AI tiene que 'leer' la imagen</a:t>
            </a:r>
          </a:p>
        </p:txBody>
      </p:sp>
      <p:sp>
        <p:nvSpPr>
          <p:cNvPr id="14" name="Oval 13"/>
          <p:cNvSpPr/>
          <p:nvPr/>
        </p:nvSpPr>
        <p:spPr>
          <a:xfrm>
            <a:off x="1783080" y="5897880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057400" y="58064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5"/>
                </a:solidFill>
                <a:latin typeface="Plus Jakarta Sans"/>
              </a:defRPr>
            </a:pPr>
            <a:r>
              <a:t>Puede confundir caracteres</a:t>
            </a:r>
          </a:p>
        </p:txBody>
      </p:sp>
      <p:sp>
        <p:nvSpPr>
          <p:cNvPr id="16" name="Oval 15"/>
          <p:cNvSpPr/>
          <p:nvPr/>
        </p:nvSpPr>
        <p:spPr>
          <a:xfrm>
            <a:off x="1783080" y="6309360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57400" y="621792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5"/>
                </a:solidFill>
                <a:latin typeface="Plus Jakarta Sans"/>
              </a:defRPr>
            </a:pPr>
            <a:r>
              <a:t>No puede buscar en tus documentos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52360" y="2011680"/>
            <a:ext cx="6217920" cy="5303520"/>
          </a:xfrm>
          <a:prstGeom prst="roundRect">
            <a:avLst/>
          </a:prstGeom>
          <a:solidFill>
            <a:srgbClr val="121216"/>
          </a:solidFill>
          <a:ln>
            <a:noFill/>
          </a:ln>
          <a:effectLst>
            <a:outerShdw blurRad="600000" dist="0" dir="0">
              <a:srgbClr val="22C55E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35240" y="2194560"/>
            <a:ext cx="5852160" cy="4937760"/>
          </a:xfrm>
          <a:prstGeom prst="roundRect">
            <a:avLst>
              <a:gd name="adj" fmla="val 6000"/>
            </a:avLst>
          </a:prstGeom>
          <a:solidFill>
            <a:srgbClr val="26262C"/>
          </a:solidFill>
          <a:ln w="1905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360152" y="2606040"/>
            <a:ext cx="411480" cy="54864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360152" y="2788920"/>
            <a:ext cx="320040" cy="54864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360152" y="2971800"/>
            <a:ext cx="411480" cy="54864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5240" y="3200400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AFAFA"/>
                </a:solidFill>
                <a:latin typeface="Outfit"/>
              </a:defRPr>
            </a:pPr>
            <a:r>
              <a:t>Copiar y pegar el texto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40" y="3749040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200" b="1">
                <a:solidFill>
                  <a:srgbClr val="22C55E"/>
                </a:solidFill>
                <a:latin typeface="Outfit"/>
              </a:defRPr>
            </a:pPr>
            <a:r>
              <a:t>458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461772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22C55E"/>
                </a:solidFill>
                <a:latin typeface="Plus Jakarta Sans"/>
              </a:defRPr>
            </a:pPr>
            <a:r>
              <a:t>tokens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32520" y="5120640"/>
            <a:ext cx="3657600" cy="13716"/>
          </a:xfrm>
          <a:prstGeom prst="rect">
            <a:avLst/>
          </a:prstGeom>
          <a:solidFill>
            <a:srgbClr val="4646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5320" y="5486400"/>
            <a:ext cx="91440" cy="9144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49640" y="539496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5"/>
                </a:solidFill>
                <a:latin typeface="Plus Jakarta Sans"/>
              </a:defRPr>
            </a:pPr>
            <a:r>
              <a:t>La AI lee cada carácter perfecto</a:t>
            </a:r>
          </a:p>
        </p:txBody>
      </p:sp>
      <p:sp>
        <p:nvSpPr>
          <p:cNvPr id="29" name="Oval 28"/>
          <p:cNvSpPr/>
          <p:nvPr/>
        </p:nvSpPr>
        <p:spPr>
          <a:xfrm>
            <a:off x="8275320" y="5897880"/>
            <a:ext cx="91440" cy="9144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9640" y="58064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5"/>
                </a:solidFill>
                <a:latin typeface="Plus Jakarta Sans"/>
              </a:defRPr>
            </a:pPr>
            <a:r>
              <a:t>Cero confusiones</a:t>
            </a:r>
          </a:p>
        </p:txBody>
      </p:sp>
      <p:sp>
        <p:nvSpPr>
          <p:cNvPr id="31" name="Oval 30"/>
          <p:cNvSpPr/>
          <p:nvPr/>
        </p:nvSpPr>
        <p:spPr>
          <a:xfrm>
            <a:off x="8275320" y="6309360"/>
            <a:ext cx="91440" cy="91440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49640" y="621792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A0A5"/>
                </a:solidFill>
                <a:latin typeface="Plus Jakarta Sans"/>
              </a:defRPr>
            </a:pPr>
            <a:r>
              <a:t>Puede buscar directamente en tu código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120640" y="7498080"/>
            <a:ext cx="4389120" cy="50292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20640" y="754380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FFFFFF"/>
                </a:solidFill>
                <a:latin typeface="Plus Jakarta Sans"/>
              </a:defRPr>
            </a:pPr>
            <a:r>
              <a:t>El screenshot cuesta 3.5x más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7818120"/>
            <a:ext cx="1280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46469"/>
                </a:solidFill>
                <a:latin typeface="Plus Jakarta Sans"/>
              </a:defRPr>
            </a:pPr>
            <a:r>
              <a:t>Medido con la API de Claude  ·  Mismo prompt, mismo modelo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